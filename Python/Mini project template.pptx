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70" r:id="rId2"/>
    <p:sldId id="295" r:id="rId3"/>
    <p:sldId id="297" r:id="rId4"/>
    <p:sldId id="307" r:id="rId5"/>
    <p:sldId id="299" r:id="rId6"/>
    <p:sldId id="308" r:id="rId7"/>
    <p:sldId id="300" r:id="rId8"/>
    <p:sldId id="301" r:id="rId9"/>
    <p:sldId id="303" r:id="rId10"/>
    <p:sldId id="305" r:id="rId11"/>
    <p:sldId id="298" r:id="rId12"/>
    <p:sldId id="30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42B6AB-4A41-4C32-A2AA-81115B805E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A5ABD-9495-4537-A3DE-BEE9E4C425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794D2-E94B-4F4C-BE71-6A50B97EA6A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352577-1B44-4005-AD74-4501AFDB32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89C02-6676-4E8C-9A1A-00F060E8C9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E44F6E-2C68-42C4-9197-1CB03ABC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7377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04A3F-FCC1-4910-8426-41187AAD2A4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10742-9F1F-48A8-92C6-8029023F4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2472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640B-E407-4BAE-A3EA-DDCE6071AA1B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953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CB1C-C098-427A-9868-80726C0A721D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57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74929-B4F8-457B-9F49-30A1D258243C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80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5073D-7D9D-4470-AE97-CB60C750FCE7}" type="datetime1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291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DD3E-12BE-4889-9275-CCEF5ABF022C}" type="datetime1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54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94DA9-31E2-472D-A2C1-DEACDC46F808}" type="datetime1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05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C733-98C0-4752-81FE-D42FDEDA51F2}" type="datetime1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8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AF13072-712B-479E-965D-135E6B728C0C}" type="datetime1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851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7A87-5142-4A61-B591-A19382E0B357}" type="datetime1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44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0F4F-3397-4092-B0A3-DED8A2D02612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413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0A98-023F-46D6-964C-3C15F4D9E02C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74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9B3AC44-C198-405B-BA54-0AC362FF21F2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4E6D572-090A-4395-A60A-97B0681F70B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185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C38ECE-6A52-4EDB-980D-5941812D732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82885" y="-33410"/>
            <a:ext cx="11578976" cy="6488987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00000"/>
              </a:lnSpc>
              <a:defRPr/>
            </a:pPr>
            <a:br>
              <a:rPr lang="en-US" sz="3200" dirty="0">
                <a:solidFill>
                  <a:schemeClr val="accent1"/>
                </a:solidFill>
              </a:rPr>
            </a:br>
            <a:br>
              <a:rPr lang="en-US" sz="3200" dirty="0">
                <a:solidFill>
                  <a:schemeClr val="accent1"/>
                </a:solidFill>
              </a:rPr>
            </a:b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dirty="0">
                <a:solidFill>
                  <a:schemeClr val="accent1"/>
                </a:solidFill>
              </a:rPr>
              <a:t>Python Programming Mini Project Presentation on</a:t>
            </a: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dirty="0">
                <a:solidFill>
                  <a:schemeClr val="accent1"/>
                </a:solidFill>
              </a:rPr>
              <a:t>“  Hostel Management System “</a:t>
            </a:r>
            <a:br>
              <a:rPr lang="en-US" sz="3200" dirty="0">
                <a:solidFill>
                  <a:schemeClr val="accent1"/>
                </a:solidFill>
              </a:rPr>
            </a:b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By</a:t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  <a:latin typeface="+mn-lt"/>
              </a:rPr>
              <a:t>[1012411008: Pradyumna </a:t>
            </a:r>
            <a:r>
              <a:rPr lang="en-US" sz="2200" dirty="0" err="1">
                <a:solidFill>
                  <a:schemeClr val="tx1"/>
                </a:solidFill>
                <a:latin typeface="+mn-lt"/>
              </a:rPr>
              <a:t>Pandekar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]</a:t>
            </a:r>
            <a:br>
              <a:rPr lang="en-US" sz="2200" dirty="0">
                <a:solidFill>
                  <a:schemeClr val="tx1"/>
                </a:solidFill>
                <a:latin typeface="+mn-lt"/>
              </a:rPr>
            </a:br>
            <a:r>
              <a:rPr lang="en-US" sz="2200" dirty="0">
                <a:solidFill>
                  <a:schemeClr val="tx1"/>
                </a:solidFill>
                <a:latin typeface="+mn-lt"/>
              </a:rPr>
              <a:t>[1012411011: Riddhee Kulkarni]</a:t>
            </a:r>
            <a:br>
              <a:rPr lang="en-US" sz="2200" dirty="0">
                <a:solidFill>
                  <a:schemeClr val="tx1"/>
                </a:solidFill>
                <a:latin typeface="+mn-lt"/>
              </a:rPr>
            </a:br>
            <a:r>
              <a:rPr lang="en-US" sz="2200" dirty="0">
                <a:solidFill>
                  <a:schemeClr val="tx1"/>
                </a:solidFill>
                <a:latin typeface="+mn-lt"/>
              </a:rPr>
              <a:t>[1012411021: Chaitanya Bhujbal]</a:t>
            </a:r>
            <a:br>
              <a:rPr lang="en-US" sz="2200" dirty="0">
                <a:solidFill>
                  <a:schemeClr val="tx1"/>
                </a:solidFill>
                <a:latin typeface="+mn-lt"/>
              </a:rPr>
            </a:br>
            <a:r>
              <a:rPr lang="en-US" sz="2200" dirty="0">
                <a:solidFill>
                  <a:schemeClr val="tx1"/>
                </a:solidFill>
                <a:latin typeface="+mn-lt"/>
              </a:rPr>
              <a:t>[1012411022: Rujuta Phaltankar]</a:t>
            </a:r>
            <a:br>
              <a:rPr lang="en-US" sz="2200" dirty="0">
                <a:solidFill>
                  <a:schemeClr val="tx1"/>
                </a:solidFill>
                <a:latin typeface="+mn-lt"/>
              </a:rPr>
            </a:br>
            <a:r>
              <a:rPr lang="en-US" sz="2200" dirty="0">
                <a:solidFill>
                  <a:schemeClr val="tx1"/>
                </a:solidFill>
                <a:latin typeface="+mn-lt"/>
              </a:rPr>
              <a:t>[1012411023: Suyash </a:t>
            </a:r>
            <a:r>
              <a:rPr lang="en-US" sz="2200" dirty="0" err="1">
                <a:solidFill>
                  <a:schemeClr val="tx1"/>
                </a:solidFill>
                <a:latin typeface="+mn-lt"/>
              </a:rPr>
              <a:t>Markandiwar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]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Computer Science and Engineering,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200" dirty="0"/>
              <a:t>School of Engineering and Technology, </a:t>
            </a:r>
            <a:br>
              <a:rPr lang="en-US" sz="2200" dirty="0"/>
            </a:br>
            <a:r>
              <a:rPr lang="en-US" sz="2200" dirty="0"/>
              <a:t>DSE Pune University, Pune</a:t>
            </a:r>
            <a:br>
              <a:rPr lang="en-US" sz="2200" dirty="0"/>
            </a:br>
            <a:r>
              <a:rPr lang="en-US" sz="2200" b="1" dirty="0">
                <a:solidFill>
                  <a:schemeClr val="accent1"/>
                </a:solidFill>
              </a:rPr>
              <a:t>A. Y. 2025-26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F4072-9A8B-4CA6-BE3F-7C48299E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8093DB-EC23-4B62-9271-582F3A3E97C4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5CF6E0-AB42-4CBE-8A49-4A35BEC71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238" y="-33410"/>
            <a:ext cx="4258269" cy="13485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3CD076-6A12-4737-BB4F-ACA1DDF97E03}"/>
              </a:ext>
            </a:extLst>
          </p:cNvPr>
          <p:cNvSpPr>
            <a:spLocks/>
          </p:cNvSpPr>
          <p:nvPr/>
        </p:nvSpPr>
        <p:spPr bwMode="auto">
          <a:xfrm>
            <a:off x="493162" y="1818526"/>
            <a:ext cx="1077758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Calibri" panose="020F0502020204030204" pitchFamily="34" charset="0"/>
              </a:rPr>
              <a:t>Introduction</a:t>
            </a:r>
            <a:r>
              <a:rPr lang="en-US" altLang="en-US" sz="2400" dirty="0">
                <a:latin typeface="Calibri" panose="020F0502020204030204" pitchFamily="34" charset="0"/>
              </a:rPr>
              <a:t> 				          	          				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Calibri" panose="020F0502020204030204" pitchFamily="34" charset="0"/>
              </a:rPr>
              <a:t>Theory 						          						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Calibri" panose="020F0502020204030204" pitchFamily="34" charset="0"/>
              </a:rPr>
              <a:t>Important Findings 				          				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Calibri" panose="020F0502020204030204" pitchFamily="34" charset="0"/>
              </a:rPr>
              <a:t>Results and Discussions</a:t>
            </a:r>
            <a:r>
              <a:rPr lang="en-US" altLang="en-US" sz="2400" dirty="0">
                <a:latin typeface="Calibri" panose="020F0502020204030204" pitchFamily="34" charset="0"/>
              </a:rPr>
              <a:t>			                       		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Calibri" panose="020F0502020204030204" pitchFamily="34" charset="0"/>
              </a:rPr>
              <a:t>Conclusion/Future Scope	</a:t>
            </a:r>
            <a:r>
              <a:rPr lang="en-US" altLang="en-US" sz="2400" dirty="0">
                <a:latin typeface="Calibri" panose="020F0502020204030204" pitchFamily="34" charset="0"/>
              </a:rPr>
              <a:t>	                                     	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Calibri" panose="020F0502020204030204" pitchFamily="34" charset="0"/>
              </a:rPr>
              <a:t>References</a:t>
            </a:r>
            <a:r>
              <a:rPr lang="en-US" altLang="en-US" sz="2400" dirty="0">
                <a:latin typeface="Calibri" panose="020F0502020204030204" pitchFamily="34" charset="0"/>
              </a:rPr>
              <a:t> 			                                                   		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71802790-1E48-406E-BC2D-9685D543CFC3}"/>
              </a:ext>
            </a:extLst>
          </p:cNvPr>
          <p:cNvSpPr>
            <a:spLocks/>
          </p:cNvSpPr>
          <p:nvPr/>
        </p:nvSpPr>
        <p:spPr bwMode="auto">
          <a:xfrm>
            <a:off x="585628" y="107877"/>
            <a:ext cx="995565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accent1"/>
                </a:solidFill>
                <a:latin typeface="Calibri" panose="020F0502020204030204" pitchFamily="34" charset="0"/>
              </a:rPr>
              <a:t>PRESENTATION FLOW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B18F2-6EAD-47BE-A53F-91E5E69EA04F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A8F88BF-95EF-467C-9414-B278646E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34CD0F-2964-4AAE-BBFB-AD9F83A02AD6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15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B18F2-6EAD-47BE-A53F-91E5E69EA04F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33443EF-C3E0-4EC5-B929-5D9E37C0B4CF}"/>
              </a:ext>
            </a:extLst>
          </p:cNvPr>
          <p:cNvSpPr>
            <a:spLocks/>
          </p:cNvSpPr>
          <p:nvPr/>
        </p:nvSpPr>
        <p:spPr bwMode="auto">
          <a:xfrm>
            <a:off x="1664415" y="381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accent1"/>
                </a:solidFill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EA18B80-C8B6-4672-B50B-47EB9DCA5627}"/>
              </a:ext>
            </a:extLst>
          </p:cNvPr>
          <p:cNvSpPr>
            <a:spLocks/>
          </p:cNvSpPr>
          <p:nvPr/>
        </p:nvSpPr>
        <p:spPr bwMode="auto">
          <a:xfrm>
            <a:off x="493162" y="1415774"/>
            <a:ext cx="11188554" cy="4579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20000"/>
              </a:spcBef>
            </a:pPr>
            <a:r>
              <a:rPr lang="en-US" altLang="en-US" sz="3200" dirty="0">
                <a:latin typeface="+mn-lt"/>
              </a:rPr>
              <a:t>Background:  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</a:rPr>
              <a:t>Hostel management is traditionally done using manual records and paperwork.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</a:rPr>
              <a:t>Maintaining student details, room allocation,</a:t>
            </a:r>
            <a:r>
              <a:rPr lang="en-US" sz="2000" dirty="0">
                <a:latin typeface="+mn-lt"/>
              </a:rPr>
              <a:t> rent, and expenses becomes complex and error-prone.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 Data loss, duplication, and inefficiency are common problems.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latin typeface="+mn-lt"/>
            </a:endParaRPr>
          </a:p>
          <a:p>
            <a:pPr marL="0" indent="0">
              <a:spcBef>
                <a:spcPct val="20000"/>
              </a:spcBef>
            </a:pPr>
            <a:r>
              <a:rPr lang="en-US" altLang="en-US" sz="3200" dirty="0">
                <a:latin typeface="+mn-lt"/>
              </a:rPr>
              <a:t>Motivation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Need for a digital and automated system.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Reduce paperwork and human errors.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Provide quick access to records.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Make management easy, fast, and organized.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C461F-4B4E-4503-809C-DB3E62628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3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7C860C-C1E3-47FE-83C6-9BFB552DA5E4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2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09196-0F00-21BB-4D0F-5CCF61B9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FB4399-E623-0102-17E1-7A313CC1E116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6EB27FA-8AE4-B180-49F0-BECE45A7121A}"/>
              </a:ext>
            </a:extLst>
          </p:cNvPr>
          <p:cNvSpPr>
            <a:spLocks/>
          </p:cNvSpPr>
          <p:nvPr/>
        </p:nvSpPr>
        <p:spPr bwMode="auto">
          <a:xfrm>
            <a:off x="1664415" y="381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accent1"/>
                </a:solidFill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B0D84AE-44BC-DE13-7067-B0431A1FC096}"/>
              </a:ext>
            </a:extLst>
          </p:cNvPr>
          <p:cNvSpPr>
            <a:spLocks/>
          </p:cNvSpPr>
          <p:nvPr/>
        </p:nvSpPr>
        <p:spPr bwMode="auto">
          <a:xfrm>
            <a:off x="501723" y="1835651"/>
            <a:ext cx="11188554" cy="4579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20000"/>
              </a:spcBef>
            </a:pPr>
            <a:r>
              <a:rPr lang="en-US" altLang="en-US" sz="3200" dirty="0">
                <a:latin typeface="Calibri" panose="020F0502020204030204" pitchFamily="34" charset="0"/>
              </a:rPr>
              <a:t>Literature Survey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Existing systems are either: expensive OR not customizable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Our system provides a simple and cost-effective solution</a:t>
            </a:r>
            <a:r>
              <a:rPr lang="en-US" dirty="0"/>
              <a:t>.</a:t>
            </a:r>
          </a:p>
          <a:p>
            <a:pPr marL="0" indent="0">
              <a:spcBef>
                <a:spcPct val="20000"/>
              </a:spcBef>
            </a:pPr>
            <a:endParaRPr lang="en-US" altLang="en-US" dirty="0">
              <a:latin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</a:pPr>
            <a:endParaRPr lang="en-US" altLang="en-US" dirty="0">
              <a:latin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</a:pPr>
            <a:r>
              <a:rPr lang="en-US" altLang="en-US" sz="3200" dirty="0">
                <a:latin typeface="Calibri" panose="020F0502020204030204" pitchFamily="34" charset="0"/>
              </a:rPr>
              <a:t>Potential Application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College hostels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+mn-lt"/>
              </a:rPr>
              <a:t>PG accommodations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+mn-lt"/>
              </a:rPr>
              <a:t>Private hostels</a:t>
            </a:r>
            <a:endParaRPr lang="en-US" altLang="en-US" sz="2000" dirty="0">
              <a:latin typeface="+mn-lt"/>
            </a:endParaRPr>
          </a:p>
          <a:p>
            <a:pPr marL="0" indent="0">
              <a:spcBef>
                <a:spcPct val="20000"/>
              </a:spcBef>
            </a:pPr>
            <a:endParaRPr lang="en-US" altLang="en-US" sz="3200" dirty="0">
              <a:latin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238D1-6110-EA28-83F0-B4F1D13F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4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15B5BE-D8AE-2217-9BA3-46A0ACFA5B7A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36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B18F2-6EAD-47BE-A53F-91E5E69EA04F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33443EF-C3E0-4EC5-B929-5D9E37C0B4CF}"/>
              </a:ext>
            </a:extLst>
          </p:cNvPr>
          <p:cNvSpPr>
            <a:spLocks/>
          </p:cNvSpPr>
          <p:nvPr/>
        </p:nvSpPr>
        <p:spPr bwMode="auto">
          <a:xfrm>
            <a:off x="1664415" y="381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accent1"/>
                </a:solidFill>
                <a:latin typeface="Calibri" panose="020F0502020204030204" pitchFamily="34" charset="0"/>
              </a:rPr>
              <a:t>THEORY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EA18B80-C8B6-4672-B50B-47EB9DCA5627}"/>
              </a:ext>
            </a:extLst>
          </p:cNvPr>
          <p:cNvSpPr>
            <a:spLocks/>
          </p:cNvSpPr>
          <p:nvPr/>
        </p:nvSpPr>
        <p:spPr bwMode="auto">
          <a:xfrm>
            <a:off x="501723" y="1436349"/>
            <a:ext cx="11188554" cy="4723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20000"/>
              </a:spcBef>
            </a:pPr>
            <a:r>
              <a:rPr lang="en-US" altLang="en-US" sz="3200" dirty="0">
                <a:latin typeface="Calibri" panose="020F0502020204030204" pitchFamily="34" charset="0"/>
              </a:rPr>
              <a:t>Proposed work: Methodology </a:t>
            </a:r>
          </a:p>
          <a:p>
            <a:pPr marL="0" indent="0">
              <a:spcBef>
                <a:spcPct val="20000"/>
              </a:spcBef>
            </a:pPr>
            <a:r>
              <a:rPr lang="en-US" sz="2000" dirty="0">
                <a:latin typeface="+mn-lt"/>
              </a:rPr>
              <a:t>Developed a Hostel Management System using web technologies.</a:t>
            </a:r>
          </a:p>
          <a:p>
            <a:pPr marL="0" indent="0">
              <a:spcBef>
                <a:spcPct val="20000"/>
              </a:spcBef>
            </a:pPr>
            <a:r>
              <a:rPr lang="en-IN" sz="2000" dirty="0">
                <a:latin typeface="+mn-lt"/>
              </a:rPr>
              <a:t>The system includes: dashboard, student management, room allocation, rent tracking, expense tracking</a:t>
            </a:r>
          </a:p>
          <a:p>
            <a:pPr marL="0" indent="0">
              <a:spcBef>
                <a:spcPct val="20000"/>
              </a:spcBef>
            </a:pPr>
            <a:endParaRPr lang="en-IN" altLang="en-US" sz="2400" dirty="0">
              <a:latin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</a:pPr>
            <a:endParaRPr lang="en-IN" altLang="en-US" sz="2400" dirty="0">
              <a:latin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</a:pPr>
            <a:r>
              <a:rPr lang="en-IN" sz="2400" b="1" dirty="0">
                <a:latin typeface="+mn-lt"/>
              </a:rPr>
              <a:t>Frontend:</a:t>
            </a:r>
            <a:r>
              <a:rPr lang="en-IN" sz="2400" dirty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HTML, CSS, Jinja2</a:t>
            </a:r>
          </a:p>
          <a:p>
            <a:pPr marL="0" indent="0">
              <a:spcBef>
                <a:spcPct val="20000"/>
              </a:spcBef>
            </a:pPr>
            <a:r>
              <a:rPr lang="en-IN" sz="2400" b="1" dirty="0">
                <a:latin typeface="+mn-lt"/>
              </a:rPr>
              <a:t>Backend:</a:t>
            </a:r>
            <a:r>
              <a:rPr lang="en-IN" sz="2400" dirty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Python, Flask</a:t>
            </a:r>
          </a:p>
          <a:p>
            <a:pPr marL="0" indent="0">
              <a:spcBef>
                <a:spcPct val="20000"/>
              </a:spcBef>
            </a:pPr>
            <a:r>
              <a:rPr lang="en-IN" sz="2400" b="1" dirty="0">
                <a:latin typeface="+mn-lt"/>
              </a:rPr>
              <a:t>Database:</a:t>
            </a:r>
            <a:r>
              <a:rPr lang="en-IN" sz="2400" dirty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MySQL</a:t>
            </a:r>
          </a:p>
          <a:p>
            <a:pPr marL="0" indent="0">
              <a:spcBef>
                <a:spcPct val="20000"/>
              </a:spcBef>
            </a:pPr>
            <a:r>
              <a:rPr lang="en-IN" sz="2400" b="1" dirty="0">
                <a:latin typeface="+mn-lt"/>
              </a:rPr>
              <a:t>Visualization:</a:t>
            </a:r>
            <a:r>
              <a:rPr lang="en-IN" sz="2400" dirty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Chart.js</a:t>
            </a:r>
          </a:p>
          <a:p>
            <a:pPr marL="0" indent="0">
              <a:spcBef>
                <a:spcPct val="20000"/>
              </a:spcBef>
            </a:pPr>
            <a:endParaRPr lang="en-IN" altLang="en-US" sz="1600" dirty="0">
              <a:latin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D4949-3B7D-4F2F-9D72-BEE681CD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5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A7046F-96A9-462B-8FCF-D2F9C8093A69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37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3A24A-6F47-5AA0-CCD8-77ABD86D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B07F9A-CF33-8185-18F1-74D817EEF1B8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F91B6A6-250F-7765-BE53-883F9BC28275}"/>
              </a:ext>
            </a:extLst>
          </p:cNvPr>
          <p:cNvSpPr>
            <a:spLocks/>
          </p:cNvSpPr>
          <p:nvPr/>
        </p:nvSpPr>
        <p:spPr bwMode="auto">
          <a:xfrm>
            <a:off x="1664415" y="381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accent1"/>
                </a:solidFill>
                <a:latin typeface="Calibri" panose="020F0502020204030204" pitchFamily="34" charset="0"/>
              </a:rPr>
              <a:t>THEORY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B3AD1A0-AE5B-6875-E935-79BF3CCDA0AD}"/>
              </a:ext>
            </a:extLst>
          </p:cNvPr>
          <p:cNvSpPr>
            <a:spLocks/>
          </p:cNvSpPr>
          <p:nvPr/>
        </p:nvSpPr>
        <p:spPr bwMode="auto">
          <a:xfrm>
            <a:off x="501723" y="1181101"/>
            <a:ext cx="11188554" cy="4723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20000"/>
              </a:spcBef>
            </a:pPr>
            <a:r>
              <a:rPr lang="en-US" altLang="en-US" sz="3200" dirty="0">
                <a:latin typeface="Calibri" panose="020F0502020204030204" pitchFamily="34" charset="0"/>
              </a:rPr>
              <a:t>ER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5AF9E-5AB7-6B2B-361D-FF9B89FEC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6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CD40A-5F28-A650-DEAE-7B5AE9C004C6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7CE86-7377-23B8-D317-016D9DD2F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10" y="1817525"/>
            <a:ext cx="10226351" cy="412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B18F2-6EAD-47BE-A53F-91E5E69EA04F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33443EF-C3E0-4EC5-B929-5D9E37C0B4CF}"/>
              </a:ext>
            </a:extLst>
          </p:cNvPr>
          <p:cNvSpPr>
            <a:spLocks/>
          </p:cNvSpPr>
          <p:nvPr/>
        </p:nvSpPr>
        <p:spPr bwMode="auto">
          <a:xfrm>
            <a:off x="1664415" y="381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accent1"/>
                </a:solidFill>
                <a:latin typeface="Calibri" panose="020F0502020204030204" pitchFamily="34" charset="0"/>
              </a:rPr>
              <a:t>IMPORTANT FINDINGS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EA18B80-C8B6-4672-B50B-47EB9DCA5627}"/>
              </a:ext>
            </a:extLst>
          </p:cNvPr>
          <p:cNvSpPr>
            <a:spLocks/>
          </p:cNvSpPr>
          <p:nvPr/>
        </p:nvSpPr>
        <p:spPr bwMode="auto">
          <a:xfrm>
            <a:off x="642138" y="1763625"/>
            <a:ext cx="11188554" cy="406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Centralized database improves data consistency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Automation reduces manual workload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Real-time data access improves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 Room allocation respects capacity limits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Rent requires active student allocation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Duplicate rent entries are prevented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Pending rent auto-updates to overdue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</a:t>
            </a:r>
            <a:r>
              <a:rPr lang="en-IN" sz="2000" dirty="0">
                <a:latin typeface="+mn-lt"/>
              </a:rPr>
              <a:t>educed paperwork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Faster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Accurate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Better organization</a:t>
            </a:r>
            <a:endParaRPr lang="en-US" sz="20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65D12-C61A-481F-8843-B1BABBF25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7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C6221-E94D-4EE7-AC2C-E87AEA8C9936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57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B18F2-6EAD-47BE-A53F-91E5E69EA04F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33443EF-C3E0-4EC5-B929-5D9E37C0B4CF}"/>
              </a:ext>
            </a:extLst>
          </p:cNvPr>
          <p:cNvSpPr>
            <a:spLocks/>
          </p:cNvSpPr>
          <p:nvPr/>
        </p:nvSpPr>
        <p:spPr bwMode="auto">
          <a:xfrm>
            <a:off x="1664415" y="381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accent1"/>
                </a:solidFill>
                <a:latin typeface="Calibri" panose="020F0502020204030204" pitchFamily="34" charset="0"/>
              </a:rPr>
              <a:t>RESULTS AND DISCUSSION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EA18B80-C8B6-4672-B50B-47EB9DCA5627}"/>
              </a:ext>
            </a:extLst>
          </p:cNvPr>
          <p:cNvSpPr>
            <a:spLocks/>
          </p:cNvSpPr>
          <p:nvPr/>
        </p:nvSpPr>
        <p:spPr bwMode="auto">
          <a:xfrm>
            <a:off x="501723" y="1835651"/>
            <a:ext cx="11188554" cy="406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Handles multiple records efficiently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Faster than manual systems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Reliable data storage and retrieval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Suitable for real-world hostel usage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Scalable for larger institutions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Improves operational efficiency </a:t>
            </a:r>
          </a:p>
          <a:p>
            <a:pPr marL="0" indent="0">
              <a:spcBef>
                <a:spcPct val="20000"/>
              </a:spcBef>
            </a:pPr>
            <a:endParaRPr lang="en-US" altLang="en-US" sz="2000" dirty="0">
              <a:latin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DD230-EBF1-4139-A731-30473BB4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8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95FEB3-4886-4E44-91A1-CA94CE73FC0B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448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B18F2-6EAD-47BE-A53F-91E5E69EA04F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33443EF-C3E0-4EC5-B929-5D9E37C0B4CF}"/>
              </a:ext>
            </a:extLst>
          </p:cNvPr>
          <p:cNvSpPr>
            <a:spLocks/>
          </p:cNvSpPr>
          <p:nvPr/>
        </p:nvSpPr>
        <p:spPr bwMode="auto">
          <a:xfrm>
            <a:off x="1664415" y="381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accent1"/>
                </a:solidFill>
                <a:latin typeface="Calibri" panose="020F0502020204030204" pitchFamily="34" charset="0"/>
              </a:rPr>
              <a:t>CONCLUSION/FUTURE SCOPE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EA18B80-C8B6-4672-B50B-47EB9DCA5627}"/>
              </a:ext>
            </a:extLst>
          </p:cNvPr>
          <p:cNvSpPr>
            <a:spLocks/>
          </p:cNvSpPr>
          <p:nvPr/>
        </p:nvSpPr>
        <p:spPr bwMode="auto">
          <a:xfrm>
            <a:off x="501723" y="1499749"/>
            <a:ext cx="11188554" cy="406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20000"/>
              </a:spcBef>
            </a:pPr>
            <a:r>
              <a:rPr lang="en-IN" sz="3200" dirty="0">
                <a:latin typeface="+mn-lt"/>
              </a:rPr>
              <a:t>Conclusion: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System provides a reliable and efficient digital solution</a:t>
            </a:r>
            <a:r>
              <a:rPr lang="en-IN" sz="2000" b="1" dirty="0">
                <a:latin typeface="+mn-lt"/>
              </a:rPr>
              <a:t>.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Reduces manual errors and improves management</a:t>
            </a:r>
          </a:p>
          <a:p>
            <a:pPr marL="0" indent="0">
              <a:spcBef>
                <a:spcPct val="20000"/>
              </a:spcBef>
            </a:pPr>
            <a:endParaRPr lang="en-US" sz="2000" dirty="0"/>
          </a:p>
          <a:p>
            <a:pPr marL="0" indent="0">
              <a:spcBef>
                <a:spcPct val="20000"/>
              </a:spcBef>
            </a:pPr>
            <a:endParaRPr lang="en-US" sz="2000" dirty="0"/>
          </a:p>
          <a:p>
            <a:pPr marL="0" indent="0">
              <a:spcBef>
                <a:spcPct val="20000"/>
              </a:spcBef>
            </a:pPr>
            <a:r>
              <a:rPr lang="en-IN" sz="3200" dirty="0">
                <a:latin typeface="+mn-lt"/>
              </a:rPr>
              <a:t>Future Scope: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Authentication &amp; security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Online payment integration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Mobile application</a:t>
            </a: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Cloud-based deployment</a:t>
            </a:r>
            <a:endParaRPr lang="en-US" altLang="en-US" sz="20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3537B-835B-48CF-A86C-7E3BD6302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9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7783B-144F-4DF3-8045-9622B5E9D2C0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277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B18F2-6EAD-47BE-A53F-91E5E69EA04F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33443EF-C3E0-4EC5-B929-5D9E37C0B4CF}"/>
              </a:ext>
            </a:extLst>
          </p:cNvPr>
          <p:cNvSpPr>
            <a:spLocks/>
          </p:cNvSpPr>
          <p:nvPr/>
        </p:nvSpPr>
        <p:spPr bwMode="auto">
          <a:xfrm>
            <a:off x="1664415" y="381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chemeClr val="accent1"/>
                </a:solidFill>
                <a:latin typeface="Calibri" panose="020F0502020204030204" pitchFamily="34" charset="0"/>
              </a:rPr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77C44-B822-4149-821D-7DFC694B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10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7218E-0CE5-43EE-A8E9-57859B94A20D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BA1E66-419B-C88E-8DEA-BA2D698E77F8}"/>
              </a:ext>
            </a:extLst>
          </p:cNvPr>
          <p:cNvSpPr txBox="1"/>
          <p:nvPr/>
        </p:nvSpPr>
        <p:spPr>
          <a:xfrm>
            <a:off x="1078788" y="1797784"/>
            <a:ext cx="97263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Python Documentation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Flask Documentation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MySQL Documentation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HTML, CSS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Chart.js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10189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B18F2-6EAD-47BE-A53F-91E5E69EA04F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Box 5">
            <a:extLst>
              <a:ext uri="{FF2B5EF4-FFF2-40B4-BE49-F238E27FC236}">
                <a16:creationId xmlns:a16="http://schemas.microsoft.com/office/drawing/2014/main" id="{DE65CBF9-9929-47B7-9EEA-DF3BC89FE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752601"/>
            <a:ext cx="54864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 b="1" dirty="0">
                <a:solidFill>
                  <a:schemeClr val="accent1"/>
                </a:solidFill>
              </a:rPr>
              <a:t>QUESTION and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000" b="1" dirty="0">
                <a:solidFill>
                  <a:schemeClr val="accent1"/>
                </a:solidFill>
              </a:rPr>
              <a:t>ANSWER ??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4D0B6-8A5C-4110-B973-00CCE66B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11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C0CA65-DE22-4F26-B0D2-A418BF82EFEF}"/>
              </a:ext>
            </a:extLst>
          </p:cNvPr>
          <p:cNvSpPr txBox="1"/>
          <p:nvPr/>
        </p:nvSpPr>
        <p:spPr>
          <a:xfrm>
            <a:off x="0" y="645557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383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B18F2-6EAD-47BE-A53F-91E5E69EA04F}"/>
              </a:ext>
            </a:extLst>
          </p:cNvPr>
          <p:cNvCxnSpPr>
            <a:cxnSpLocks/>
          </p:cNvCxnSpPr>
          <p:nvPr/>
        </p:nvCxnSpPr>
        <p:spPr>
          <a:xfrm>
            <a:off x="493162" y="1140434"/>
            <a:ext cx="103152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318843-DA80-488B-981B-9D1A75310001}"/>
              </a:ext>
            </a:extLst>
          </p:cNvPr>
          <p:cNvSpPr txBox="1">
            <a:spLocks/>
          </p:cNvSpPr>
          <p:nvPr/>
        </p:nvSpPr>
        <p:spPr>
          <a:xfrm>
            <a:off x="3566846" y="2734638"/>
            <a:ext cx="4816475" cy="1049338"/>
          </a:xfrm>
          <a:prstGeom prst="rect">
            <a:avLst/>
          </a:prstGeom>
        </p:spPr>
        <p:txBody>
          <a:bodyPr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7200">
                <a:latin typeface="Brush" panose="020B7200000000000000" pitchFamily="34" charset="0"/>
              </a:rPr>
              <a:t>Thank You </a:t>
            </a:r>
            <a:endParaRPr lang="en-IN" sz="7200" dirty="0">
              <a:latin typeface="Brush" panose="020B7200000000000000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9BE32-1308-4329-B242-3B1B13A7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6D572-090A-4395-A60A-97B0681F70BD}" type="slidenum">
              <a:rPr lang="en-IN" smtClean="0"/>
              <a:t>12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D894C-0DB8-4CCC-8577-711373703357}"/>
              </a:ext>
            </a:extLst>
          </p:cNvPr>
          <p:cNvSpPr txBox="1"/>
          <p:nvPr/>
        </p:nvSpPr>
        <p:spPr>
          <a:xfrm>
            <a:off x="0" y="643503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  <a:t>School of Engineering and Technology @ DES Pune University, Pune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0418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335</TotalTime>
  <Words>573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Brush</vt:lpstr>
      <vt:lpstr>Calibri</vt:lpstr>
      <vt:lpstr>Calibri Light</vt:lpstr>
      <vt:lpstr>Lato</vt:lpstr>
      <vt:lpstr>Retrospect</vt:lpstr>
      <vt:lpstr>   Python Programming Mini Project Presentation on “  Hostel Management System “  By [1012411008: Pradyumna Pandekar] [1012411011: Riddhee Kulkarni] [1012411021: Chaitanya Bhujbal] [1012411022: Rujuta Phaltankar] [1012411023: Suyash Markandiwar]   Department of Computer Science and Engineering, School of Engineering and Technology,  DSE Pune University, Pune A. Y. 2025-26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Rujuta Phaltankar</cp:lastModifiedBy>
  <cp:revision>18</cp:revision>
  <dcterms:created xsi:type="dcterms:W3CDTF">2026-02-03T08:38:50Z</dcterms:created>
  <dcterms:modified xsi:type="dcterms:W3CDTF">2026-04-09T05:51:33Z</dcterms:modified>
</cp:coreProperties>
</file>